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5" r:id="rId2"/>
    <p:sldId id="264" r:id="rId3"/>
    <p:sldId id="263" r:id="rId4"/>
    <p:sldId id="262" r:id="rId5"/>
    <p:sldId id="261" r:id="rId6"/>
    <p:sldId id="260" r:id="rId7"/>
    <p:sldId id="259" r:id="rId8"/>
    <p:sldId id="258" r:id="rId9"/>
    <p:sldId id="257" r:id="rId10"/>
    <p:sldId id="256" r:id="rId11"/>
  </p:sldIdLst>
  <p:sldSz cx="10693400" cy="7556500"/>
  <p:notesSz cx="6858000" cy="9144000"/>
  <p:embeddedFontLst>
    <p:embeddedFont>
      <p:font typeface="Brush Script MT" panose="03060802040406070304" pitchFamily="66" charset="0"/>
      <p:italic r:id="rId12"/>
    </p:embeddedFont>
    <p:embeddedFont>
      <p:font typeface="Cormorant Garamond Bold" panose="020B0604020202020204" charset="0"/>
      <p:regular r:id="rId13"/>
    </p:embeddedFont>
    <p:embeddedFont>
      <p:font typeface="Glacial Indifference" panose="020B0604020202020204" charset="0"/>
      <p:regular r:id="rId14"/>
    </p:embeddedFont>
    <p:embeddedFont>
      <p:font typeface="Glacial Indifference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87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09F9A-756D-D1B0-EEF0-4D391FF9A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875FB81-C2F3-E538-4DDF-4270A288E47C}"/>
              </a:ext>
            </a:extLst>
          </p:cNvPr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F1BB8C9-3297-E835-BF05-E4446828D90C}"/>
              </a:ext>
            </a:extLst>
          </p:cNvPr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4941DBF-F82F-B85C-BCE5-99E52C6C1134}"/>
              </a:ext>
            </a:extLst>
          </p:cNvPr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E49A83-75FB-8C61-4EC6-1BD55485D2CF}"/>
                </a:ext>
              </a:extLst>
            </p:cNvPr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9C08248-6572-8CA5-AE9E-34D7603DDC7B}"/>
                </a:ext>
              </a:extLst>
            </p:cNvPr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3C9222C-F4A1-4EFD-9C35-ABC5F045150E}"/>
              </a:ext>
            </a:extLst>
          </p:cNvPr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E841F4D-6E5D-E4BE-638C-8F247BC94785}"/>
              </a:ext>
            </a:extLst>
          </p:cNvPr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1C8018A-6802-0223-D5AC-50B75DC1A5BC}"/>
              </a:ext>
            </a:extLst>
          </p:cNvPr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65C18F9-EB61-EA24-1EDC-B0A0EACDCDFF}"/>
              </a:ext>
            </a:extLst>
          </p:cNvPr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7307F24-9909-E0C0-9D05-52C562934752}"/>
              </a:ext>
            </a:extLst>
          </p:cNvPr>
          <p:cNvSpPr/>
          <p:nvPr/>
        </p:nvSpPr>
        <p:spPr>
          <a:xfrm>
            <a:off x="36370" y="433926"/>
            <a:ext cx="1439261" cy="1137691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1635F8FA-CAC9-BE3F-C096-8274ADA8E728}"/>
              </a:ext>
            </a:extLst>
          </p:cNvPr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89A2565-296A-4614-90A2-1BF45DB46020}"/>
              </a:ext>
            </a:extLst>
          </p:cNvPr>
          <p:cNvSpPr/>
          <p:nvPr/>
        </p:nvSpPr>
        <p:spPr>
          <a:xfrm>
            <a:off x="446618" y="1668067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069CBFA-315E-8DAF-B835-AA0BF0338EF8}"/>
              </a:ext>
            </a:extLst>
          </p:cNvPr>
          <p:cNvSpPr txBox="1"/>
          <p:nvPr/>
        </p:nvSpPr>
        <p:spPr>
          <a:xfrm>
            <a:off x="957523" y="679800"/>
            <a:ext cx="9289259" cy="15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RESILIENCE AWARD  </a:t>
            </a:r>
          </a:p>
          <a:p>
            <a:pPr algn="ctr">
              <a:lnSpc>
                <a:spcPts val="5925"/>
              </a:lnSpc>
              <a:spcBef>
                <a:spcPct val="0"/>
              </a:spcBef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ED33766-4027-7A9E-352C-90CC2F70CA8C}"/>
              </a:ext>
            </a:extLst>
          </p:cNvPr>
          <p:cNvSpPr txBox="1"/>
          <p:nvPr/>
        </p:nvSpPr>
        <p:spPr>
          <a:xfrm>
            <a:off x="1815806" y="4255232"/>
            <a:ext cx="67167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the student who shows exceptional perseverance and a positive attitude in the face of challenge.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68A6FA4-8797-F1E6-3C90-CBCD2C82B4B0}"/>
              </a:ext>
            </a:extLst>
          </p:cNvPr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D32468B-12BC-CC57-5B3A-178524EE0BCC}"/>
              </a:ext>
            </a:extLst>
          </p:cNvPr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2CAAE83-C763-F994-2768-3417B686A11F}"/>
              </a:ext>
            </a:extLst>
          </p:cNvPr>
          <p:cNvSpPr txBox="1"/>
          <p:nvPr/>
        </p:nvSpPr>
        <p:spPr>
          <a:xfrm>
            <a:off x="2159494" y="2648913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0F15A83-8958-609B-8762-C5C4E311E5B4}"/>
              </a:ext>
            </a:extLst>
          </p:cNvPr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2056B9D-618C-36A0-578C-0E7B5170FCAD}"/>
              </a:ext>
            </a:extLst>
          </p:cNvPr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E6DB86-69F9-25C0-8F36-E5936C482A0D}"/>
              </a:ext>
            </a:extLst>
          </p:cNvPr>
          <p:cNvSpPr txBox="1"/>
          <p:nvPr/>
        </p:nvSpPr>
        <p:spPr>
          <a:xfrm>
            <a:off x="3014997" y="3252962"/>
            <a:ext cx="89175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4400" dirty="0">
                <a:latin typeface="Brush Script MT" panose="03060802040406070304" pitchFamily="66" charset="0"/>
              </a:rPr>
              <a:t>Aimal Faheem </a:t>
            </a:r>
            <a:r>
              <a:rPr lang="en-US" sz="4400" dirty="0">
                <a:latin typeface="Brush Script MT" panose="03060802040406070304" pitchFamily="66" charset="0"/>
              </a:rPr>
              <a:t>Akhtar</a:t>
            </a:r>
            <a:endParaRPr lang="en-AE" sz="44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0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DD4A4-3EAF-84F7-5FC4-1AD8E4ADF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ACEAE2B-A9B7-3B41-BEFD-D2F395ECFFF1}"/>
              </a:ext>
            </a:extLst>
          </p:cNvPr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DEE3077-26AA-5B97-3EA4-B43F7A954D01}"/>
              </a:ext>
            </a:extLst>
          </p:cNvPr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1DF0BA-C439-9DF6-B1BB-017349C9CB27}"/>
              </a:ext>
            </a:extLst>
          </p:cNvPr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DA9053C-490A-3412-857E-121B42E97491}"/>
                </a:ext>
              </a:extLst>
            </p:cNvPr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CED29DD-514F-BB43-BC1B-B937968519D0}"/>
                </a:ext>
              </a:extLst>
            </p:cNvPr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E4B16D3-1FE0-45F5-36F4-664316B22F0F}"/>
              </a:ext>
            </a:extLst>
          </p:cNvPr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579FB48-92A2-C2DF-7573-422BC355EA70}"/>
              </a:ext>
            </a:extLst>
          </p:cNvPr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8DE34AF-483E-04BA-0FFA-50DDB4C77E8C}"/>
              </a:ext>
            </a:extLst>
          </p:cNvPr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5EBEFF8-5DE0-B284-FC3F-0435E588D605}"/>
              </a:ext>
            </a:extLst>
          </p:cNvPr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99B746D-FAF9-5928-A07A-EBB736580532}"/>
              </a:ext>
            </a:extLst>
          </p:cNvPr>
          <p:cNvSpPr/>
          <p:nvPr/>
        </p:nvSpPr>
        <p:spPr>
          <a:xfrm>
            <a:off x="36370" y="433926"/>
            <a:ext cx="1439261" cy="1137691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824F1C6-C021-8600-6F1E-FAB00741BC6B}"/>
              </a:ext>
            </a:extLst>
          </p:cNvPr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363A21B-F835-48DE-B7F8-9BD55D1BBF68}"/>
              </a:ext>
            </a:extLst>
          </p:cNvPr>
          <p:cNvSpPr/>
          <p:nvPr/>
        </p:nvSpPr>
        <p:spPr>
          <a:xfrm>
            <a:off x="446618" y="1668067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2629FF7-7225-FE9B-FD50-F74836042075}"/>
              </a:ext>
            </a:extLst>
          </p:cNvPr>
          <p:cNvSpPr txBox="1"/>
          <p:nvPr/>
        </p:nvSpPr>
        <p:spPr>
          <a:xfrm>
            <a:off x="957523" y="679800"/>
            <a:ext cx="9289259" cy="152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ATHLETE OF THE YEAR</a:t>
            </a:r>
          </a:p>
          <a:p>
            <a:pPr algn="ctr">
              <a:lnSpc>
                <a:spcPts val="6065"/>
              </a:lnSpc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898B84D-A84E-41D9-E031-EF691D29C9C4}"/>
              </a:ext>
            </a:extLst>
          </p:cNvPr>
          <p:cNvSpPr txBox="1"/>
          <p:nvPr/>
        </p:nvSpPr>
        <p:spPr>
          <a:xfrm>
            <a:off x="1815806" y="4255232"/>
            <a:ext cx="67167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outstanding achievement, sportsmanship, and commitment in school sports.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9AC52BA-68A5-B651-F219-18B02E68A115}"/>
              </a:ext>
            </a:extLst>
          </p:cNvPr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8C370CE-3A53-A4CA-84CB-4D27E961DC54}"/>
              </a:ext>
            </a:extLst>
          </p:cNvPr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793592-3980-039F-F359-D153CE72C11D}"/>
              </a:ext>
            </a:extLst>
          </p:cNvPr>
          <p:cNvSpPr txBox="1"/>
          <p:nvPr/>
        </p:nvSpPr>
        <p:spPr>
          <a:xfrm>
            <a:off x="2159494" y="2648913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86D64BC-C044-F88C-CC7B-22130D2964F8}"/>
              </a:ext>
            </a:extLst>
          </p:cNvPr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B4A2A2D-504C-0550-9C21-06AEA2EA4208}"/>
              </a:ext>
            </a:extLst>
          </p:cNvPr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41ACF1-D102-E700-3D48-6A1A0B605D8B}"/>
              </a:ext>
            </a:extLst>
          </p:cNvPr>
          <p:cNvSpPr txBox="1"/>
          <p:nvPr/>
        </p:nvSpPr>
        <p:spPr>
          <a:xfrm>
            <a:off x="3456855" y="3258195"/>
            <a:ext cx="89175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rush Script MT" panose="03060802040406070304" pitchFamily="66" charset="0"/>
              </a:rPr>
              <a:t>Boushra Helmi </a:t>
            </a:r>
            <a:r>
              <a:rPr lang="en-US" sz="4400" dirty="0" err="1">
                <a:latin typeface="Brush Script MT" panose="03060802040406070304" pitchFamily="66" charset="0"/>
              </a:rPr>
              <a:t>Awji</a:t>
            </a:r>
            <a:endParaRPr lang="en-AE" sz="44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09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7B4D9-A51D-EA4F-6D0D-DF0EDE284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0B71220-B714-FF5A-A653-012F155C0462}"/>
              </a:ext>
            </a:extLst>
          </p:cNvPr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4A9302F-4B81-1DE7-BF7B-5F398C32233F}"/>
              </a:ext>
            </a:extLst>
          </p:cNvPr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CEAC244-426D-31F6-8B6B-9AEDA304393B}"/>
              </a:ext>
            </a:extLst>
          </p:cNvPr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C58B467-362F-505B-8D3B-BA41216228E9}"/>
                </a:ext>
              </a:extLst>
            </p:cNvPr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2565667-60BA-23B9-25FB-47A8D94D44AC}"/>
                </a:ext>
              </a:extLst>
            </p:cNvPr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E0B92DF-4A5E-46FD-23FB-5A8551357B2D}"/>
              </a:ext>
            </a:extLst>
          </p:cNvPr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2085662-CEC8-6586-8195-242BDAA72C58}"/>
              </a:ext>
            </a:extLst>
          </p:cNvPr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8C23C9A-22E2-8D67-4333-3BEC5C46CC97}"/>
              </a:ext>
            </a:extLst>
          </p:cNvPr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D041FCE-FB8F-35C1-0F20-B4BB5F7724AF}"/>
              </a:ext>
            </a:extLst>
          </p:cNvPr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2CD445F-BAF3-DF6F-13F6-3B74DB27B6AF}"/>
              </a:ext>
            </a:extLst>
          </p:cNvPr>
          <p:cNvSpPr/>
          <p:nvPr/>
        </p:nvSpPr>
        <p:spPr>
          <a:xfrm>
            <a:off x="36370" y="433926"/>
            <a:ext cx="1439261" cy="1137691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EB9A289C-1529-4404-F515-CA1F430652DB}"/>
              </a:ext>
            </a:extLst>
          </p:cNvPr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0EE71FB-7B26-DABC-EA16-50EFF105AFD4}"/>
              </a:ext>
            </a:extLst>
          </p:cNvPr>
          <p:cNvSpPr/>
          <p:nvPr/>
        </p:nvSpPr>
        <p:spPr>
          <a:xfrm>
            <a:off x="446618" y="1668067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4356A77-E647-1852-0357-EBDBDF4C18DA}"/>
              </a:ext>
            </a:extLst>
          </p:cNvPr>
          <p:cNvSpPr txBox="1"/>
          <p:nvPr/>
        </p:nvSpPr>
        <p:spPr>
          <a:xfrm>
            <a:off x="957523" y="679800"/>
            <a:ext cx="9289259" cy="15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UNSUNG HERO AWARD  </a:t>
            </a:r>
          </a:p>
          <a:p>
            <a:pPr algn="ctr">
              <a:lnSpc>
                <a:spcPts val="5925"/>
              </a:lnSpc>
              <a:spcBef>
                <a:spcPct val="0"/>
              </a:spcBef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BB80DCD-B21B-8F21-EEFB-4FDF95B58FFA}"/>
              </a:ext>
            </a:extLst>
          </p:cNvPr>
          <p:cNvSpPr txBox="1"/>
          <p:nvPr/>
        </p:nvSpPr>
        <p:spPr>
          <a:xfrm>
            <a:off x="1815806" y="4255232"/>
            <a:ext cx="67167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consistent behind-the-scenes contribution and dedication that strengthens the school community.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355DA1F-F46C-28EB-4D5F-6118B781E1F0}"/>
              </a:ext>
            </a:extLst>
          </p:cNvPr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81117E4-902B-DC0E-3247-FCD1E449E747}"/>
              </a:ext>
            </a:extLst>
          </p:cNvPr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DDB2D6B-5700-BD23-F012-A3E769651860}"/>
              </a:ext>
            </a:extLst>
          </p:cNvPr>
          <p:cNvSpPr txBox="1"/>
          <p:nvPr/>
        </p:nvSpPr>
        <p:spPr>
          <a:xfrm>
            <a:off x="2159494" y="2648913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FCB94CC-EB09-3089-EA29-273B6210F17C}"/>
              </a:ext>
            </a:extLst>
          </p:cNvPr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C59B577-BB35-9F6E-3020-883D4569FE96}"/>
              </a:ext>
            </a:extLst>
          </p:cNvPr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51636-FE83-CA01-BC69-142F079EAC0F}"/>
              </a:ext>
            </a:extLst>
          </p:cNvPr>
          <p:cNvSpPr txBox="1"/>
          <p:nvPr/>
        </p:nvSpPr>
        <p:spPr>
          <a:xfrm>
            <a:off x="2792832" y="3221141"/>
            <a:ext cx="89175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rush Script MT" panose="03060802040406070304" pitchFamily="66" charset="0"/>
              </a:rPr>
              <a:t>Salah Muhammad Rizwan</a:t>
            </a:r>
            <a:endParaRPr lang="en-AE" sz="44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24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44726-213E-0030-B95E-9A2F68A9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54A19AD-891B-0464-38D4-D57B63404A85}"/>
              </a:ext>
            </a:extLst>
          </p:cNvPr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E2B3934-F223-2819-F6D0-31083CCFDC2E}"/>
              </a:ext>
            </a:extLst>
          </p:cNvPr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988DF38-13EA-2704-AC5A-5741420368D8}"/>
              </a:ext>
            </a:extLst>
          </p:cNvPr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4EABA63-2184-13DD-511C-47CDE0F471ED}"/>
                </a:ext>
              </a:extLst>
            </p:cNvPr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7FB7ACF-3879-33FC-CA14-E3055E643FD3}"/>
                </a:ext>
              </a:extLst>
            </p:cNvPr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B7DD596-294F-D5A8-9D16-EC7ED1D33CDF}"/>
              </a:ext>
            </a:extLst>
          </p:cNvPr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9EC89C0-E8F9-80CA-9008-E9805E96E54E}"/>
              </a:ext>
            </a:extLst>
          </p:cNvPr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00752E5-8254-63DD-EC6A-B9C02C5C1FF2}"/>
              </a:ext>
            </a:extLst>
          </p:cNvPr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E8EA6C3-31E8-ED12-552E-C985308B987F}"/>
              </a:ext>
            </a:extLst>
          </p:cNvPr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FF6B6C5-7855-04DD-F8BB-69B567ABC206}"/>
              </a:ext>
            </a:extLst>
          </p:cNvPr>
          <p:cNvSpPr/>
          <p:nvPr/>
        </p:nvSpPr>
        <p:spPr>
          <a:xfrm>
            <a:off x="36370" y="433926"/>
            <a:ext cx="1439261" cy="1137691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94D200C4-8F9E-CFC0-E922-50DBB89D74EB}"/>
              </a:ext>
            </a:extLst>
          </p:cNvPr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587974E-9437-50DC-33C8-D273AE0E12BE}"/>
              </a:ext>
            </a:extLst>
          </p:cNvPr>
          <p:cNvSpPr/>
          <p:nvPr/>
        </p:nvSpPr>
        <p:spPr>
          <a:xfrm>
            <a:off x="446618" y="1668067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EF17E42-6F5E-FBB8-8AB7-9414463AFFB1}"/>
              </a:ext>
            </a:extLst>
          </p:cNvPr>
          <p:cNvSpPr txBox="1"/>
          <p:nvPr/>
        </p:nvSpPr>
        <p:spPr>
          <a:xfrm>
            <a:off x="873463" y="669049"/>
            <a:ext cx="9289259" cy="15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EMERGING LEADER AWARD  </a:t>
            </a:r>
          </a:p>
          <a:p>
            <a:pPr algn="ctr">
              <a:lnSpc>
                <a:spcPts val="5925"/>
              </a:lnSpc>
              <a:spcBef>
                <a:spcPct val="0"/>
              </a:spcBef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554007F-CECE-0895-2D12-0E3E571AA950}"/>
              </a:ext>
            </a:extLst>
          </p:cNvPr>
          <p:cNvSpPr txBox="1"/>
          <p:nvPr/>
        </p:nvSpPr>
        <p:spPr>
          <a:xfrm>
            <a:off x="1815806" y="4255232"/>
            <a:ext cx="67167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demonstrating initiative, vision, and leadership potential in school activities.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FCE220C-F29B-0408-1870-6774B6A8C91F}"/>
              </a:ext>
            </a:extLst>
          </p:cNvPr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9A5F507-BAE2-273C-BE33-4912674053E1}"/>
              </a:ext>
            </a:extLst>
          </p:cNvPr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763468B-4C61-C52E-6FA1-0724521F2C12}"/>
              </a:ext>
            </a:extLst>
          </p:cNvPr>
          <p:cNvSpPr txBox="1"/>
          <p:nvPr/>
        </p:nvSpPr>
        <p:spPr>
          <a:xfrm>
            <a:off x="2159494" y="2648913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9939CAE-76FF-99E1-7CE0-B89D01427C2B}"/>
              </a:ext>
            </a:extLst>
          </p:cNvPr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26BFA92-424D-E9A3-FD72-B8ABE86DE11E}"/>
              </a:ext>
            </a:extLst>
          </p:cNvPr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50B6FB-BE2F-C7E9-481D-2404441FBAC9}"/>
              </a:ext>
            </a:extLst>
          </p:cNvPr>
          <p:cNvSpPr txBox="1"/>
          <p:nvPr/>
        </p:nvSpPr>
        <p:spPr>
          <a:xfrm>
            <a:off x="3854938" y="3196004"/>
            <a:ext cx="5384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242424"/>
                </a:solidFill>
                <a:latin typeface="Brush Script MT" panose="03060802040406070304" pitchFamily="66" charset="0"/>
              </a:rPr>
              <a:t>Warda Waseem </a:t>
            </a:r>
            <a:endParaRPr lang="en-AE" sz="44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61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8FAF3-70E9-B04D-3911-B8382A667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EC57D4C-4BF9-5AE1-8BDC-EB4636783EB6}"/>
              </a:ext>
            </a:extLst>
          </p:cNvPr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CB37E8B-5DA9-940F-2F07-8B7E7C3C7618}"/>
              </a:ext>
            </a:extLst>
          </p:cNvPr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0E77514-4A45-5B8A-48A6-409745152A4F}"/>
              </a:ext>
            </a:extLst>
          </p:cNvPr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0B5F224-BEDF-9BD8-B221-AFBF72D895C7}"/>
                </a:ext>
              </a:extLst>
            </p:cNvPr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CC6289A-2C04-80C5-C37A-78ECD332693B}"/>
                </a:ext>
              </a:extLst>
            </p:cNvPr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53BA5F8-C3B4-7627-494D-5DCAA2496A8E}"/>
              </a:ext>
            </a:extLst>
          </p:cNvPr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B7FD9BC-A71E-49A1-B661-628F04C086F4}"/>
              </a:ext>
            </a:extLst>
          </p:cNvPr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E31F6CC-9AA6-0B5C-C98F-A0EFC62ECB20}"/>
              </a:ext>
            </a:extLst>
          </p:cNvPr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0A39AB5-7018-6B81-7EBF-374BE42D9754}"/>
              </a:ext>
            </a:extLst>
          </p:cNvPr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ABDD9D8-B6C0-4474-FDD3-F8AD5298BDA0}"/>
              </a:ext>
            </a:extLst>
          </p:cNvPr>
          <p:cNvSpPr/>
          <p:nvPr/>
        </p:nvSpPr>
        <p:spPr>
          <a:xfrm>
            <a:off x="55537" y="392680"/>
            <a:ext cx="1439261" cy="1137691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C6DA4267-3051-F972-4C12-140E6DA2B42E}"/>
              </a:ext>
            </a:extLst>
          </p:cNvPr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CBE4434-4081-0F3B-8BAC-9643AF8E1744}"/>
              </a:ext>
            </a:extLst>
          </p:cNvPr>
          <p:cNvSpPr/>
          <p:nvPr/>
        </p:nvSpPr>
        <p:spPr>
          <a:xfrm>
            <a:off x="446618" y="1668067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E0D9B5C-9560-DE9A-982D-C42285710D75}"/>
              </a:ext>
            </a:extLst>
          </p:cNvPr>
          <p:cNvSpPr txBox="1"/>
          <p:nvPr/>
        </p:nvSpPr>
        <p:spPr>
          <a:xfrm>
            <a:off x="995623" y="475256"/>
            <a:ext cx="9091082" cy="2286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ALL-ROUND ACHIEVER AWARD  </a:t>
            </a:r>
          </a:p>
          <a:p>
            <a:pPr algn="ctr">
              <a:lnSpc>
                <a:spcPts val="5925"/>
              </a:lnSpc>
              <a:spcBef>
                <a:spcPct val="0"/>
              </a:spcBef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9313EC2-5C60-5EDD-AB37-709AD2B39685}"/>
              </a:ext>
            </a:extLst>
          </p:cNvPr>
          <p:cNvSpPr txBox="1"/>
          <p:nvPr/>
        </p:nvSpPr>
        <p:spPr>
          <a:xfrm>
            <a:off x="1815806" y="4255232"/>
            <a:ext cx="67167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balanced excellence across academics, co-curriculars, and personal conduct.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61CEED6-ED56-9ACF-6B1B-642D286568AA}"/>
              </a:ext>
            </a:extLst>
          </p:cNvPr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9A13FE2-3F02-54B1-9FD5-BE13216FEB17}"/>
              </a:ext>
            </a:extLst>
          </p:cNvPr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8357419-BC13-A458-F87C-17CF469A7C59}"/>
              </a:ext>
            </a:extLst>
          </p:cNvPr>
          <p:cNvSpPr txBox="1"/>
          <p:nvPr/>
        </p:nvSpPr>
        <p:spPr>
          <a:xfrm>
            <a:off x="2280380" y="2735365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 dirty="0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F7CCF2A-6136-153E-19FC-F9AF74C71203}"/>
              </a:ext>
            </a:extLst>
          </p:cNvPr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15C1648-D6C8-56A5-25C0-A3C5EB88B29C}"/>
              </a:ext>
            </a:extLst>
          </p:cNvPr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4DBB91-3616-43E5-DE22-4AAB3845F214}"/>
              </a:ext>
            </a:extLst>
          </p:cNvPr>
          <p:cNvSpPr txBox="1"/>
          <p:nvPr/>
        </p:nvSpPr>
        <p:spPr>
          <a:xfrm>
            <a:off x="3803869" y="3173662"/>
            <a:ext cx="658870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Brush Script MT" panose="03060802040406070304" pitchFamily="66" charset="0"/>
              </a:rPr>
              <a:t>Emaan Faheem</a:t>
            </a:r>
            <a:endParaRPr lang="en-AE" sz="44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306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7ABAE-6DBF-59BB-7776-1EEDA7A9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26C8459-D8DE-9ABF-9CDA-5943286D3B5C}"/>
              </a:ext>
            </a:extLst>
          </p:cNvPr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4EA5666-28AA-BC91-E817-793A245973B3}"/>
              </a:ext>
            </a:extLst>
          </p:cNvPr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62EF3F-0F9B-9C00-2650-7363026548EF}"/>
              </a:ext>
            </a:extLst>
          </p:cNvPr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E8E2D28-9193-10CF-F93C-994EC585027D}"/>
                </a:ext>
              </a:extLst>
            </p:cNvPr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DA7E2EF-40CB-70ED-BF52-C4864A78CD04}"/>
                </a:ext>
              </a:extLst>
            </p:cNvPr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2BAF0ED-0A8D-44F7-D734-0DF26C40BD19}"/>
              </a:ext>
            </a:extLst>
          </p:cNvPr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4360872-77CE-3521-B0F8-DB30A4A50775}"/>
              </a:ext>
            </a:extLst>
          </p:cNvPr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D9EB81D-5687-066E-AC8E-2C247A6F5F55}"/>
              </a:ext>
            </a:extLst>
          </p:cNvPr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23F1657-0916-FED4-5493-25B8E8B04756}"/>
              </a:ext>
            </a:extLst>
          </p:cNvPr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462C1A9-CDB6-11B9-EF58-C69EAFAE26BE}"/>
              </a:ext>
            </a:extLst>
          </p:cNvPr>
          <p:cNvSpPr/>
          <p:nvPr/>
        </p:nvSpPr>
        <p:spPr>
          <a:xfrm>
            <a:off x="36370" y="433926"/>
            <a:ext cx="1439261" cy="1137691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E193E686-069E-480C-1385-31F068CBA458}"/>
              </a:ext>
            </a:extLst>
          </p:cNvPr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C66CC5F-4E0D-2628-29B2-31D23CE08564}"/>
              </a:ext>
            </a:extLst>
          </p:cNvPr>
          <p:cNvSpPr/>
          <p:nvPr/>
        </p:nvSpPr>
        <p:spPr>
          <a:xfrm>
            <a:off x="446618" y="1668067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AE09FEF-6C65-D501-DD3C-D7D5D3335409}"/>
              </a:ext>
            </a:extLst>
          </p:cNvPr>
          <p:cNvSpPr txBox="1"/>
          <p:nvPr/>
        </p:nvSpPr>
        <p:spPr>
          <a:xfrm>
            <a:off x="957523" y="679800"/>
            <a:ext cx="9289259" cy="15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TRAILBLAZER AWARD  </a:t>
            </a:r>
          </a:p>
          <a:p>
            <a:pPr algn="ctr">
              <a:lnSpc>
                <a:spcPts val="5925"/>
              </a:lnSpc>
              <a:spcBef>
                <a:spcPct val="0"/>
              </a:spcBef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48BB7DE-A4A3-E8EE-4839-C52307D8A63A}"/>
              </a:ext>
            </a:extLst>
          </p:cNvPr>
          <p:cNvSpPr txBox="1"/>
          <p:nvPr/>
        </p:nvSpPr>
        <p:spPr>
          <a:xfrm>
            <a:off x="2159494" y="4255232"/>
            <a:ext cx="6373013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creativity, innovation, and courage in pursuing new ideas and opportunities.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411B3D9-F4EE-15AA-A945-8D371C92C541}"/>
              </a:ext>
            </a:extLst>
          </p:cNvPr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FE1F4B0-BDCB-6BCD-EEEF-1FE81AC2E344}"/>
              </a:ext>
            </a:extLst>
          </p:cNvPr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8A59105-5618-4583-0AC9-CF01F61BB056}"/>
              </a:ext>
            </a:extLst>
          </p:cNvPr>
          <p:cNvSpPr txBox="1"/>
          <p:nvPr/>
        </p:nvSpPr>
        <p:spPr>
          <a:xfrm>
            <a:off x="2159494" y="2648913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6344C53-2CD9-60A5-EDF4-F85EA206A07A}"/>
              </a:ext>
            </a:extLst>
          </p:cNvPr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446D135-A21B-D5CD-80DB-FC8BB271FC50}"/>
              </a:ext>
            </a:extLst>
          </p:cNvPr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96D30-FF04-99E0-D0AD-AD85B883CE63}"/>
              </a:ext>
            </a:extLst>
          </p:cNvPr>
          <p:cNvSpPr txBox="1"/>
          <p:nvPr/>
        </p:nvSpPr>
        <p:spPr>
          <a:xfrm>
            <a:off x="3541885" y="2957873"/>
            <a:ext cx="642124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AE" dirty="0"/>
            </a:br>
            <a:r>
              <a:rPr lang="en-US" sz="4400" dirty="0">
                <a:solidFill>
                  <a:srgbClr val="242424"/>
                </a:solidFill>
                <a:latin typeface="Brush Script MT" panose="03060802040406070304" pitchFamily="66" charset="0"/>
              </a:rPr>
              <a:t>Azka Baig Mirza</a:t>
            </a:r>
            <a:endParaRPr lang="en-AE" sz="44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41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AAE7A-46FA-BB03-8FB4-EC5FF28B5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8565302-3F54-D973-996A-1657E9B22B3E}"/>
              </a:ext>
            </a:extLst>
          </p:cNvPr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00326EC-F115-961E-6F34-26D333E560C9}"/>
              </a:ext>
            </a:extLst>
          </p:cNvPr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0E95550-D2F6-55FD-995F-2B03241387AF}"/>
              </a:ext>
            </a:extLst>
          </p:cNvPr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98BD3F6-FF76-2C7D-0E51-C596C64BFEAA}"/>
                </a:ext>
              </a:extLst>
            </p:cNvPr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384DC3-4A5B-1F28-7129-E557EA536D89}"/>
                </a:ext>
              </a:extLst>
            </p:cNvPr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0589BEF-D7FE-C9FF-2C27-DBB6383AFC2E}"/>
              </a:ext>
            </a:extLst>
          </p:cNvPr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C48D443-F406-1419-AFF9-0BE4680A6E6C}"/>
              </a:ext>
            </a:extLst>
          </p:cNvPr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4BF7B69-8C1D-CFA4-B6D3-25776EDB7EAD}"/>
              </a:ext>
            </a:extLst>
          </p:cNvPr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93B53E8-C472-ADAF-6C99-97BC41844C1E}"/>
              </a:ext>
            </a:extLst>
          </p:cNvPr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C663A74-A35F-A19B-8572-09CC221C644C}"/>
              </a:ext>
            </a:extLst>
          </p:cNvPr>
          <p:cNvSpPr/>
          <p:nvPr/>
        </p:nvSpPr>
        <p:spPr>
          <a:xfrm>
            <a:off x="36370" y="433926"/>
            <a:ext cx="1439261" cy="1137691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66D8CA54-7DE0-E490-0BB1-FF2CB4B6B051}"/>
              </a:ext>
            </a:extLst>
          </p:cNvPr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8F49784-BE5E-2D6E-0F75-9C4100E5FA98}"/>
              </a:ext>
            </a:extLst>
          </p:cNvPr>
          <p:cNvSpPr/>
          <p:nvPr/>
        </p:nvSpPr>
        <p:spPr>
          <a:xfrm>
            <a:off x="446618" y="1668067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DD9D544-30C4-AA5D-5A63-C83E35B86214}"/>
              </a:ext>
            </a:extLst>
          </p:cNvPr>
          <p:cNvSpPr txBox="1"/>
          <p:nvPr/>
        </p:nvSpPr>
        <p:spPr>
          <a:xfrm>
            <a:off x="957523" y="679800"/>
            <a:ext cx="9289259" cy="152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STUDENT OF THE YEAR</a:t>
            </a:r>
          </a:p>
          <a:p>
            <a:pPr algn="ctr">
              <a:lnSpc>
                <a:spcPts val="6065"/>
              </a:lnSpc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C22BC12-0AA8-D2E9-59F3-B81D720A6CCE}"/>
              </a:ext>
            </a:extLst>
          </p:cNvPr>
          <p:cNvSpPr txBox="1"/>
          <p:nvPr/>
        </p:nvSpPr>
        <p:spPr>
          <a:xfrm>
            <a:off x="1932356" y="4255069"/>
            <a:ext cx="67167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overall excellence in academics, character, and contribution to school life.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E4E9297-E88F-147A-64AF-2274DB06DDEE}"/>
              </a:ext>
            </a:extLst>
          </p:cNvPr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D987249-CB84-4AFD-A867-C2AC898717AB}"/>
              </a:ext>
            </a:extLst>
          </p:cNvPr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D2207BF-68CB-6B84-BF1B-78FE6E332731}"/>
              </a:ext>
            </a:extLst>
          </p:cNvPr>
          <p:cNvSpPr txBox="1"/>
          <p:nvPr/>
        </p:nvSpPr>
        <p:spPr>
          <a:xfrm>
            <a:off x="2159494" y="2648913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CDAB9A6-7006-E251-30C0-8F1BAB31C783}"/>
              </a:ext>
            </a:extLst>
          </p:cNvPr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AC6A545-67BE-C152-E542-FC2DECE10786}"/>
              </a:ext>
            </a:extLst>
          </p:cNvPr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AFBA7-A2BB-CEF3-F77E-5C73FFD7A92E}"/>
              </a:ext>
            </a:extLst>
          </p:cNvPr>
          <p:cNvSpPr txBox="1"/>
          <p:nvPr/>
        </p:nvSpPr>
        <p:spPr>
          <a:xfrm>
            <a:off x="2707384" y="2995847"/>
            <a:ext cx="637301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AE" dirty="0"/>
            </a:br>
            <a:r>
              <a:rPr lang="en-US" sz="4000" dirty="0">
                <a:solidFill>
                  <a:srgbClr val="242424"/>
                </a:solidFill>
                <a:latin typeface="Brush Script MT" panose="03060802040406070304" pitchFamily="66" charset="0"/>
              </a:rPr>
              <a:t>Puspita Alma </a:t>
            </a:r>
            <a:r>
              <a:rPr lang="en-US" sz="4000" dirty="0" err="1">
                <a:solidFill>
                  <a:srgbClr val="242424"/>
                </a:solidFill>
                <a:latin typeface="Brush Script MT" panose="03060802040406070304" pitchFamily="66" charset="0"/>
              </a:rPr>
              <a:t>Gantari</a:t>
            </a:r>
            <a:r>
              <a:rPr lang="en-US" sz="4000" dirty="0">
                <a:solidFill>
                  <a:srgbClr val="242424"/>
                </a:solidFill>
                <a:latin typeface="Brush Script MT" panose="03060802040406070304" pitchFamily="66" charset="0"/>
              </a:rPr>
              <a:t> Lopez</a:t>
            </a:r>
            <a:endParaRPr lang="en-AE" sz="40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96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64678-3A6B-3885-93B8-118FE78A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E76DCFC-4EBC-6B69-8CE5-9FD2BE1750F6}"/>
              </a:ext>
            </a:extLst>
          </p:cNvPr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93BBA4F-2BAC-57B9-5D3C-C09DAB83E105}"/>
              </a:ext>
            </a:extLst>
          </p:cNvPr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092EE0A-BCCB-2B6B-2FA3-F3E5BD80D469}"/>
              </a:ext>
            </a:extLst>
          </p:cNvPr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4197A61-1C43-2F5B-2C65-59CE79A0B0D1}"/>
                </a:ext>
              </a:extLst>
            </p:cNvPr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7F72B44-C5CC-1442-735C-1AF5834F61A4}"/>
                </a:ext>
              </a:extLst>
            </p:cNvPr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3D77417-5DDC-9BD7-851F-6906CD57F61A}"/>
              </a:ext>
            </a:extLst>
          </p:cNvPr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AE4D5F6-1DF5-64B0-229F-C81C7276510E}"/>
              </a:ext>
            </a:extLst>
          </p:cNvPr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20A1C8F-0981-4CE7-DDC2-739FE7A14210}"/>
              </a:ext>
            </a:extLst>
          </p:cNvPr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B40B059-3665-752B-7A89-74D785DDE109}"/>
              </a:ext>
            </a:extLst>
          </p:cNvPr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C8E190B-DC03-7789-5961-759A720D3F20}"/>
              </a:ext>
            </a:extLst>
          </p:cNvPr>
          <p:cNvSpPr/>
          <p:nvPr/>
        </p:nvSpPr>
        <p:spPr>
          <a:xfrm>
            <a:off x="36370" y="433926"/>
            <a:ext cx="1439261" cy="1137691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E7839EA2-42E7-6535-898B-9230BE587E9E}"/>
              </a:ext>
            </a:extLst>
          </p:cNvPr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58B9D38-B80A-8697-0761-FC3FE02D2F54}"/>
              </a:ext>
            </a:extLst>
          </p:cNvPr>
          <p:cNvSpPr/>
          <p:nvPr/>
        </p:nvSpPr>
        <p:spPr>
          <a:xfrm>
            <a:off x="446618" y="1668067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C5DD574-1AD7-1506-6141-DD47F5543673}"/>
              </a:ext>
            </a:extLst>
          </p:cNvPr>
          <p:cNvSpPr txBox="1"/>
          <p:nvPr/>
        </p:nvSpPr>
        <p:spPr>
          <a:xfrm>
            <a:off x="957523" y="679800"/>
            <a:ext cx="9289259" cy="15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CITIZENSHIP AWARD  </a:t>
            </a:r>
          </a:p>
          <a:p>
            <a:pPr algn="ctr">
              <a:lnSpc>
                <a:spcPts val="5925"/>
              </a:lnSpc>
              <a:spcBef>
                <a:spcPct val="0"/>
              </a:spcBef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AC85E6E-D43B-7B32-F8E9-2947C2E8B5F8}"/>
              </a:ext>
            </a:extLst>
          </p:cNvPr>
          <p:cNvSpPr txBox="1"/>
          <p:nvPr/>
        </p:nvSpPr>
        <p:spPr>
          <a:xfrm>
            <a:off x="1815806" y="4255232"/>
            <a:ext cx="67167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consistently upholding respect, responsibility, and integrity within the school community.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A53D52A-C1FB-F364-1797-E6285F7D86F7}"/>
              </a:ext>
            </a:extLst>
          </p:cNvPr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28C8B82-14A9-1E70-B76D-645524B6711A}"/>
              </a:ext>
            </a:extLst>
          </p:cNvPr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2F1BE3F-AD6E-8F11-248C-484E9CCC3CA6}"/>
              </a:ext>
            </a:extLst>
          </p:cNvPr>
          <p:cNvSpPr txBox="1"/>
          <p:nvPr/>
        </p:nvSpPr>
        <p:spPr>
          <a:xfrm>
            <a:off x="2159494" y="2648913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535C329-2B86-4447-0F64-0CABDCC34D1C}"/>
              </a:ext>
            </a:extLst>
          </p:cNvPr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C2B8A9A-2311-E167-F6E0-DE47247B2AD9}"/>
              </a:ext>
            </a:extLst>
          </p:cNvPr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B1557F-6FC9-46BD-17A6-BC3EF6D001C8}"/>
              </a:ext>
            </a:extLst>
          </p:cNvPr>
          <p:cNvSpPr txBox="1"/>
          <p:nvPr/>
        </p:nvSpPr>
        <p:spPr>
          <a:xfrm>
            <a:off x="2001253" y="3257371"/>
            <a:ext cx="74094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242424"/>
                </a:solidFill>
                <a:latin typeface="Brush Script MT" panose="03060802040406070304" pitchFamily="66" charset="0"/>
              </a:rPr>
              <a:t>Noura Wael Fawzy Metwally Soliman</a:t>
            </a:r>
            <a:endParaRPr lang="en-AE" sz="40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095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E1069-5EB6-3AD0-F6FC-A5ABE777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BDD360D-A665-C9F6-6D10-D68D04324228}"/>
              </a:ext>
            </a:extLst>
          </p:cNvPr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9A6C2DB-8891-5E6D-C408-663A290D55A2}"/>
              </a:ext>
            </a:extLst>
          </p:cNvPr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71EE704-DD3F-2771-9470-55C74ADA31BE}"/>
              </a:ext>
            </a:extLst>
          </p:cNvPr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895329C-2D70-15F8-37A2-4ABAFFA2DBFD}"/>
                </a:ext>
              </a:extLst>
            </p:cNvPr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9466BB8-F6BD-D278-3425-C805158D99F8}"/>
                </a:ext>
              </a:extLst>
            </p:cNvPr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44185CF-EF9F-D632-DE8A-42ACDC9CE98B}"/>
              </a:ext>
            </a:extLst>
          </p:cNvPr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6A232B3-A2D4-E0BA-C42C-7E4F8898FBF0}"/>
              </a:ext>
            </a:extLst>
          </p:cNvPr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2209FBF-1E4F-E7A3-F7C0-734A6E9CD068}"/>
              </a:ext>
            </a:extLst>
          </p:cNvPr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C8838F8-5986-248B-2E74-A1569067B301}"/>
              </a:ext>
            </a:extLst>
          </p:cNvPr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3CC9B18-0AFE-5626-C58A-C5E7CF47E8B7}"/>
              </a:ext>
            </a:extLst>
          </p:cNvPr>
          <p:cNvSpPr/>
          <p:nvPr/>
        </p:nvSpPr>
        <p:spPr>
          <a:xfrm>
            <a:off x="36370" y="433926"/>
            <a:ext cx="1439261" cy="1137691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15130032-530F-26F4-B5CA-32B848D1FE80}"/>
              </a:ext>
            </a:extLst>
          </p:cNvPr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96FF5F-BA7E-9784-35BD-FB40B91340E9}"/>
              </a:ext>
            </a:extLst>
          </p:cNvPr>
          <p:cNvSpPr/>
          <p:nvPr/>
        </p:nvSpPr>
        <p:spPr>
          <a:xfrm>
            <a:off x="446618" y="1668067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70FA800-BDD8-73B1-0FF8-FAA358A93D11}"/>
              </a:ext>
            </a:extLst>
          </p:cNvPr>
          <p:cNvSpPr txBox="1"/>
          <p:nvPr/>
        </p:nvSpPr>
        <p:spPr>
          <a:xfrm>
            <a:off x="854528" y="703875"/>
            <a:ext cx="9289259" cy="152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GREEN CHAMPION AWARD</a:t>
            </a:r>
          </a:p>
          <a:p>
            <a:pPr algn="ctr">
              <a:lnSpc>
                <a:spcPts val="6065"/>
              </a:lnSpc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1A68DB4-6A9D-F25A-6DB3-283E04447016}"/>
              </a:ext>
            </a:extLst>
          </p:cNvPr>
          <p:cNvSpPr txBox="1"/>
          <p:nvPr/>
        </p:nvSpPr>
        <p:spPr>
          <a:xfrm>
            <a:off x="2293080" y="4133203"/>
            <a:ext cx="6096001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outstanding commitment to sustainability and environmental action.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7A76D53-1BB7-7035-B536-B37FD3C64814}"/>
              </a:ext>
            </a:extLst>
          </p:cNvPr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F34AB5A-42D1-F6C7-9FEE-F126655D4C00}"/>
              </a:ext>
            </a:extLst>
          </p:cNvPr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577EB56-6CED-F017-B3C3-C45B320F4265}"/>
              </a:ext>
            </a:extLst>
          </p:cNvPr>
          <p:cNvSpPr txBox="1"/>
          <p:nvPr/>
        </p:nvSpPr>
        <p:spPr>
          <a:xfrm>
            <a:off x="2159494" y="2648913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1D316C9-3ACA-E559-8ECA-FB768CA85EEA}"/>
              </a:ext>
            </a:extLst>
          </p:cNvPr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4BDE299-0727-6152-1835-C221F5D6C2A0}"/>
              </a:ext>
            </a:extLst>
          </p:cNvPr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916BF8-CD9C-AD67-D3E5-6B11283AB5D3}"/>
              </a:ext>
            </a:extLst>
          </p:cNvPr>
          <p:cNvSpPr txBox="1"/>
          <p:nvPr/>
        </p:nvSpPr>
        <p:spPr>
          <a:xfrm>
            <a:off x="2989597" y="3273559"/>
            <a:ext cx="64643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242424"/>
                </a:solidFill>
                <a:latin typeface="Brush Script MT" panose="03060802040406070304" pitchFamily="66" charset="0"/>
              </a:rPr>
              <a:t>Syeda Afshan Mustafa</a:t>
            </a:r>
            <a:endParaRPr lang="en-AE" sz="44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13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23430" y="3926619"/>
            <a:ext cx="5645140" cy="0"/>
          </a:xfrm>
          <a:prstGeom prst="line">
            <a:avLst/>
          </a:prstGeom>
          <a:ln w="28575" cap="flat">
            <a:solidFill>
              <a:srgbClr val="CCA94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3" name="AutoShape 3"/>
          <p:cNvSpPr/>
          <p:nvPr/>
        </p:nvSpPr>
        <p:spPr>
          <a:xfrm>
            <a:off x="5499158" y="6019999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pSp>
        <p:nvGrpSpPr>
          <p:cNvPr id="4" name="Group 4"/>
          <p:cNvGrpSpPr/>
          <p:nvPr/>
        </p:nvGrpSpPr>
        <p:grpSpPr>
          <a:xfrm rot="-5400000">
            <a:off x="1550264" y="-1550267"/>
            <a:ext cx="7556503" cy="10657029"/>
            <a:chOff x="0" y="0"/>
            <a:chExt cx="2827119" cy="40272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27119" cy="4027208"/>
            </a:xfrm>
            <a:custGeom>
              <a:avLst/>
              <a:gdLst/>
              <a:ahLst/>
              <a:cxnLst/>
              <a:rect l="l" t="t" r="r" b="b"/>
              <a:pathLst>
                <a:path w="2827119" h="4027208">
                  <a:moveTo>
                    <a:pt x="0" y="0"/>
                  </a:moveTo>
                  <a:lnTo>
                    <a:pt x="2827119" y="0"/>
                  </a:lnTo>
                  <a:lnTo>
                    <a:pt x="2827119" y="4027208"/>
                  </a:lnTo>
                  <a:lnTo>
                    <a:pt x="0" y="4027208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F7D558">
                      <a:alpha val="100000"/>
                    </a:srgbClr>
                  </a:gs>
                  <a:gs pos="50000">
                    <a:srgbClr val="E1B348">
                      <a:alpha val="100000"/>
                    </a:srgbClr>
                  </a:gs>
                  <a:gs pos="100000">
                    <a:srgbClr val="A48959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miter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827119" cy="4055783"/>
            </a:xfrm>
            <a:prstGeom prst="rect">
              <a:avLst/>
            </a:prstGeom>
          </p:spPr>
          <p:txBody>
            <a:bodyPr lIns="51039" tIns="51039" rIns="51039" bIns="51039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63500" y="2407582"/>
            <a:ext cx="4713161" cy="5113874"/>
          </a:xfrm>
          <a:custGeom>
            <a:avLst/>
            <a:gdLst/>
            <a:ahLst/>
            <a:cxnLst/>
            <a:rect l="l" t="t" r="r" b="b"/>
            <a:pathLst>
              <a:path w="3434669" h="1372955">
                <a:moveTo>
                  <a:pt x="0" y="0"/>
                </a:moveTo>
                <a:lnTo>
                  <a:pt x="3434669" y="0"/>
                </a:lnTo>
                <a:lnTo>
                  <a:pt x="3434669" y="1372955"/>
                </a:lnTo>
                <a:lnTo>
                  <a:pt x="0" y="1372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973" t="2155" r="538" b="-685"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Freeform 8"/>
          <p:cNvSpPr/>
          <p:nvPr/>
        </p:nvSpPr>
        <p:spPr>
          <a:xfrm flipH="1" flipV="1">
            <a:off x="6050040" y="0"/>
            <a:ext cx="4641960" cy="5038763"/>
          </a:xfrm>
          <a:custGeom>
            <a:avLst/>
            <a:gdLst/>
            <a:ahLst/>
            <a:cxnLst/>
            <a:rect l="l" t="t" r="r" b="b"/>
            <a:pathLst>
              <a:path w="4641960" h="5038763">
                <a:moveTo>
                  <a:pt x="4641960" y="5038763"/>
                </a:moveTo>
                <a:lnTo>
                  <a:pt x="0" y="5038763"/>
                </a:lnTo>
                <a:lnTo>
                  <a:pt x="0" y="0"/>
                </a:lnTo>
                <a:lnTo>
                  <a:pt x="4641960" y="0"/>
                </a:lnTo>
                <a:lnTo>
                  <a:pt x="4641960" y="503876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/>
          <p:cNvSpPr/>
          <p:nvPr/>
        </p:nvSpPr>
        <p:spPr>
          <a:xfrm>
            <a:off x="8139164" y="4558128"/>
            <a:ext cx="1640194" cy="2086098"/>
          </a:xfrm>
          <a:custGeom>
            <a:avLst/>
            <a:gdLst/>
            <a:ahLst/>
            <a:cxnLst/>
            <a:rect l="l" t="t" r="r" b="b"/>
            <a:pathLst>
              <a:path w="1640194" h="2086098">
                <a:moveTo>
                  <a:pt x="0" y="0"/>
                </a:moveTo>
                <a:lnTo>
                  <a:pt x="1640195" y="0"/>
                </a:lnTo>
                <a:lnTo>
                  <a:pt x="1640195" y="2086098"/>
                </a:lnTo>
                <a:lnTo>
                  <a:pt x="0" y="208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Freeform 10"/>
          <p:cNvSpPr/>
          <p:nvPr/>
        </p:nvSpPr>
        <p:spPr>
          <a:xfrm>
            <a:off x="8236379" y="4581764"/>
            <a:ext cx="1445764" cy="1438234"/>
          </a:xfrm>
          <a:custGeom>
            <a:avLst/>
            <a:gdLst/>
            <a:ahLst/>
            <a:cxnLst/>
            <a:rect l="l" t="t" r="r" b="b"/>
            <a:pathLst>
              <a:path w="1445764" h="1438234">
                <a:moveTo>
                  <a:pt x="0" y="0"/>
                </a:moveTo>
                <a:lnTo>
                  <a:pt x="1445765" y="0"/>
                </a:lnTo>
                <a:lnTo>
                  <a:pt x="1445765" y="1438235"/>
                </a:lnTo>
                <a:lnTo>
                  <a:pt x="0" y="143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Freeform 11"/>
          <p:cNvSpPr/>
          <p:nvPr/>
        </p:nvSpPr>
        <p:spPr>
          <a:xfrm>
            <a:off x="36371" y="433926"/>
            <a:ext cx="1336824" cy="1096445"/>
          </a:xfrm>
          <a:custGeom>
            <a:avLst/>
            <a:gdLst/>
            <a:ahLst/>
            <a:cxnLst/>
            <a:rect l="l" t="t" r="r" b="b"/>
            <a:pathLst>
              <a:path w="1439261" h="1137691">
                <a:moveTo>
                  <a:pt x="0" y="0"/>
                </a:moveTo>
                <a:lnTo>
                  <a:pt x="1439260" y="0"/>
                </a:lnTo>
                <a:lnTo>
                  <a:pt x="1439260" y="1137691"/>
                </a:lnTo>
                <a:lnTo>
                  <a:pt x="0" y="113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40" b="-3040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AutoShape 12"/>
          <p:cNvSpPr/>
          <p:nvPr/>
        </p:nvSpPr>
        <p:spPr>
          <a:xfrm>
            <a:off x="1373194" y="5990344"/>
            <a:ext cx="2096361" cy="0"/>
          </a:xfrm>
          <a:prstGeom prst="line">
            <a:avLst/>
          </a:prstGeom>
          <a:ln w="9525" cap="flat">
            <a:solidFill>
              <a:srgbClr val="8B6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Freeform 13"/>
          <p:cNvSpPr/>
          <p:nvPr/>
        </p:nvSpPr>
        <p:spPr>
          <a:xfrm>
            <a:off x="370294" y="1680368"/>
            <a:ext cx="2096361" cy="3505685"/>
          </a:xfrm>
          <a:custGeom>
            <a:avLst/>
            <a:gdLst/>
            <a:ahLst/>
            <a:cxnLst/>
            <a:rect l="l" t="t" r="r" b="b"/>
            <a:pathLst>
              <a:path w="2629264" h="3505685">
                <a:moveTo>
                  <a:pt x="0" y="0"/>
                </a:moveTo>
                <a:lnTo>
                  <a:pt x="2629263" y="0"/>
                </a:lnTo>
                <a:lnTo>
                  <a:pt x="2629263" y="3505685"/>
                </a:lnTo>
                <a:lnTo>
                  <a:pt x="0" y="3505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4" name="TextBox 14"/>
          <p:cNvSpPr txBox="1"/>
          <p:nvPr/>
        </p:nvSpPr>
        <p:spPr>
          <a:xfrm>
            <a:off x="756000" y="691207"/>
            <a:ext cx="9289259" cy="148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spc="316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DIGITAL SCHOLAR AWARD  </a:t>
            </a:r>
          </a:p>
          <a:p>
            <a:pPr algn="ctr">
              <a:lnSpc>
                <a:spcPts val="5925"/>
              </a:lnSpc>
              <a:spcBef>
                <a:spcPct val="0"/>
              </a:spcBef>
            </a:pPr>
            <a:r>
              <a:rPr lang="en-US" sz="4232" b="1" spc="308" dirty="0">
                <a:solidFill>
                  <a:srgbClr val="26202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2025-26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5806" y="4255232"/>
            <a:ext cx="67167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3"/>
              </a:lnSpc>
            </a:pPr>
            <a:r>
              <a:rPr lang="en-US" sz="1700" spc="44" dirty="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for exceptional self-discipline, engagement, and academic performance in online lessons and assessments.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7523" y="6089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TASNEEM HUSSAIN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6895" y="63775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Head of Secondary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59494" y="2648913"/>
            <a:ext cx="637301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142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IS PRESENTED TO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58039" y="614894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26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KELVIN HORNSBY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58039" y="6470635"/>
            <a:ext cx="313181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6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CEO/ Principal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4E62C2-C18B-AB8A-528A-C5B43D60918E}"/>
              </a:ext>
            </a:extLst>
          </p:cNvPr>
          <p:cNvSpPr txBox="1"/>
          <p:nvPr/>
        </p:nvSpPr>
        <p:spPr>
          <a:xfrm>
            <a:off x="3309131" y="3251324"/>
            <a:ext cx="63730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242424"/>
                </a:solidFill>
                <a:latin typeface="Brush Script MT" panose="03060802040406070304" pitchFamily="66" charset="0"/>
              </a:rPr>
              <a:t>Hafsa Adnan Malik</a:t>
            </a:r>
            <a:endParaRPr lang="en-AE" sz="4400" dirty="0">
              <a:latin typeface="Brush Script MT" panose="030608020404060703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354</Words>
  <Application>Microsoft Office PowerPoint</Application>
  <PresentationFormat>Custom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Glacial Indifference</vt:lpstr>
      <vt:lpstr>Arial</vt:lpstr>
      <vt:lpstr>Calibri</vt:lpstr>
      <vt:lpstr>Cormorant Garamond Bold</vt:lpstr>
      <vt:lpstr>Brush Script MT</vt:lpstr>
      <vt:lpstr>Glacial Indifference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Modern Appreciation Certificate</dc:title>
  <dc:creator>AUS00400</dc:creator>
  <cp:lastModifiedBy>FATHIMA ROOBI</cp:lastModifiedBy>
  <cp:revision>8</cp:revision>
  <dcterms:created xsi:type="dcterms:W3CDTF">2006-08-16T00:00:00Z</dcterms:created>
  <dcterms:modified xsi:type="dcterms:W3CDTF">2026-06-09T06:51:17Z</dcterms:modified>
  <dc:identifier>DAHLY1w-Jzk</dc:identifier>
</cp:coreProperties>
</file>